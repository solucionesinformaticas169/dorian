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1d7a282ac1f48c1" /><Relationship Type="http://schemas.openxmlformats.org/officeDocument/2006/relationships/extended-properties" Target="/docProps/app.xml" Id="R384edb784c6243f8" /><Relationship Type="http://schemas.openxmlformats.org/officeDocument/2006/relationships/officeDocument" Target="/ppt/presentation.xml" Id="R5f520429387d45d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f01cda5c911445b"/>
  </p:sldMasterIdLst>
  <p:notesMasterIdLst>
    <p:notesMasterId xmlns:r="http://schemas.openxmlformats.org/officeDocument/2006/relationships" r:id="R89e8751330d84c23"/>
  </p:notesMasterIdLst>
  <p:sldIdLst>
    <p:sldId xmlns:r="http://schemas.openxmlformats.org/officeDocument/2006/relationships" id="256" r:id="R444fdccab6224751"/>
    <p:sldId xmlns:r="http://schemas.openxmlformats.org/officeDocument/2006/relationships" id="257" r:id="R20465b7f03314ee8"/>
    <p:sldId xmlns:r="http://schemas.openxmlformats.org/officeDocument/2006/relationships" id="258" r:id="R1715da1cde264e82"/>
    <p:sldId xmlns:r="http://schemas.openxmlformats.org/officeDocument/2006/relationships" id="259" r:id="R6079de0566e94d13"/>
    <p:sldId xmlns:r="http://schemas.openxmlformats.org/officeDocument/2006/relationships" id="260" r:id="Rf9e9b1c7a6a04f19"/>
    <p:sldId xmlns:r="http://schemas.openxmlformats.org/officeDocument/2006/relationships" id="261" r:id="R62fd8f2f02bd435d"/>
    <p:sldId xmlns:r="http://schemas.openxmlformats.org/officeDocument/2006/relationships" id="262" r:id="R5a0284fcf2784cfe"/>
    <p:sldId xmlns:r="http://schemas.openxmlformats.org/officeDocument/2006/relationships" id="263" r:id="R7498a95853414119"/>
    <p:sldId xmlns:r="http://schemas.openxmlformats.org/officeDocument/2006/relationships" id="264" r:id="Rda3d6e76a8ec4d58"/>
    <p:sldId xmlns:r="http://schemas.openxmlformats.org/officeDocument/2006/relationships" id="265" r:id="Rd01438a1bd524ec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01cda5c911445b" /><Relationship Type="http://schemas.openxmlformats.org/officeDocument/2006/relationships/theme" Target="/ppt/theme/theme1.xml" Id="Rac2a102eeeac4c19" /><Relationship Type="http://schemas.openxmlformats.org/officeDocument/2006/relationships/notesMaster" Target="/ppt/notesMasters/notesMaster1.xml" Id="R89e8751330d84c23" /><Relationship Type="http://schemas.openxmlformats.org/officeDocument/2006/relationships/presProps" Target="/ppt/presProps.xml" Id="R9bc9303556c44c81" /><Relationship Type="http://schemas.openxmlformats.org/officeDocument/2006/relationships/viewProps" Target="/ppt/viewProps.xml" Id="R76680a34b7b54157" /><Relationship Type="http://schemas.openxmlformats.org/officeDocument/2006/relationships/tableStyles" Target="/ppt/tableStyles.xml" Id="R9043aadcb19b4b59" /><Relationship Type="http://schemas.openxmlformats.org/officeDocument/2006/relationships/slide" Target="/ppt/slides/slide1.xml" Id="R444fdccab6224751" /><Relationship Type="http://schemas.openxmlformats.org/officeDocument/2006/relationships/slide" Target="/ppt/slides/slide2.xml" Id="R20465b7f03314ee8" /><Relationship Type="http://schemas.openxmlformats.org/officeDocument/2006/relationships/slide" Target="/ppt/slides/slide3.xml" Id="R1715da1cde264e82" /><Relationship Type="http://schemas.openxmlformats.org/officeDocument/2006/relationships/slide" Target="/ppt/slides/slide4.xml" Id="R6079de0566e94d13" /><Relationship Type="http://schemas.openxmlformats.org/officeDocument/2006/relationships/slide" Target="/ppt/slides/slide5.xml" Id="Rf9e9b1c7a6a04f19" /><Relationship Type="http://schemas.openxmlformats.org/officeDocument/2006/relationships/slide" Target="/ppt/slides/slide6.xml" Id="R62fd8f2f02bd435d" /><Relationship Type="http://schemas.openxmlformats.org/officeDocument/2006/relationships/slide" Target="/ppt/slides/slide7.xml" Id="R5a0284fcf2784cfe" /><Relationship Type="http://schemas.openxmlformats.org/officeDocument/2006/relationships/slide" Target="/ppt/slides/slide8.xml" Id="R7498a95853414119" /><Relationship Type="http://schemas.openxmlformats.org/officeDocument/2006/relationships/slide" Target="/ppt/slides/slide9.xml" Id="Rda3d6e76a8ec4d58" /><Relationship Type="http://schemas.openxmlformats.org/officeDocument/2006/relationships/slide" Target="/ppt/slides/slide10.xml" Id="Rd01438a1bd524ec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27ecd13d64a943c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53f5b833e77431c" /><Relationship Type="http://schemas.openxmlformats.org/officeDocument/2006/relationships/notesMaster" Target="/ppt/notesMasters/notesMaster1.xml" Id="R986badecff4e4b6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86d9823e5534fed" /><Relationship Type="http://schemas.openxmlformats.org/officeDocument/2006/relationships/notesMaster" Target="/ppt/notesMasters/notesMaster1.xml" Id="R8ae1fac63140474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e2b187975f44cbb" /><Relationship Type="http://schemas.openxmlformats.org/officeDocument/2006/relationships/notesMaster" Target="/ppt/notesMasters/notesMaster1.xml" Id="Rf61b5a7850364dd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f9c4b01c3814cf7" /><Relationship Type="http://schemas.openxmlformats.org/officeDocument/2006/relationships/notesMaster" Target="/ppt/notesMasters/notesMaster1.xml" Id="Rbb42f51a106443d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8298c9109e7443e" /><Relationship Type="http://schemas.openxmlformats.org/officeDocument/2006/relationships/notesMaster" Target="/ppt/notesMasters/notesMaster1.xml" Id="Read85964e2cc4a3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481b9619f894986" /><Relationship Type="http://schemas.openxmlformats.org/officeDocument/2006/relationships/notesMaster" Target="/ppt/notesMasters/notesMaster1.xml" Id="R1524dbfbba664db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1de83f413f2455f" /><Relationship Type="http://schemas.openxmlformats.org/officeDocument/2006/relationships/notesMaster" Target="/ppt/notesMasters/notesMaster1.xml" Id="Rf38557713a4447a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f4cfad132d24faa" /><Relationship Type="http://schemas.openxmlformats.org/officeDocument/2006/relationships/notesMaster" Target="/ppt/notesMasters/notesMaster1.xml" Id="Rafb317fe477b4db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37fa5b0e52346ff" /><Relationship Type="http://schemas.openxmlformats.org/officeDocument/2006/relationships/notesMaster" Target="/ppt/notesMasters/notesMaster1.xml" Id="Rbcfef8dc06ce401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a0240269b014a38" /><Relationship Type="http://schemas.openxmlformats.org/officeDocument/2006/relationships/notesMaster" Target="/ppt/notesMasters/notesMaster1.xml" Id="Rd5adca35731c490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17056d6bc44ea8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4c299b384e1c4111" /><Relationship Type="http://schemas.openxmlformats.org/officeDocument/2006/relationships/slideLayout" Target="/ppt/slideLayouts/slideLayout2.xml" Id="R646f5fe616194df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46f5fe616194df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081568acca14f21" /><Relationship Type="http://schemas.openxmlformats.org/officeDocument/2006/relationships/image" Target="/ppt/media/image.png" Id="R12e2e28766c34901" /><Relationship Type="http://schemas.openxmlformats.org/officeDocument/2006/relationships/image" Target="/ppt/media/image.jpeg" Id="R776fad5a9be74d1d" /><Relationship Type="http://schemas.openxmlformats.org/officeDocument/2006/relationships/notesSlide" Target="/ppt/notesSlides/notesSlide1.xml" Id="R776b16cc1de94ad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b91afb8dec641e5" /><Relationship Type="http://schemas.openxmlformats.org/officeDocument/2006/relationships/notesSlide" Target="/ppt/notesSlides/notesSlide2.xml" Id="Reec7fc6cd7a84de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866f453ca334bc7" /><Relationship Type="http://schemas.openxmlformats.org/officeDocument/2006/relationships/notesSlide" Target="/ppt/notesSlides/notesSlide3.xml" Id="Rd22ef61c1d4546c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f163d289a6341fe" /><Relationship Type="http://schemas.openxmlformats.org/officeDocument/2006/relationships/notesSlide" Target="/ppt/notesSlides/notesSlide4.xml" Id="R0c2a54e0b06e4c3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b59e05a8d3b4657" /><Relationship Type="http://schemas.openxmlformats.org/officeDocument/2006/relationships/image" Target="/ppt/media/image2.png" Id="Rbb56fb83e8004907" /><Relationship Type="http://schemas.openxmlformats.org/officeDocument/2006/relationships/notesSlide" Target="/ppt/notesSlides/notesSlide5.xml" Id="R5036ecb37a82400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0865d0785bc43df" /><Relationship Type="http://schemas.openxmlformats.org/officeDocument/2006/relationships/notesSlide" Target="/ppt/notesSlides/notesSlide6.xml" Id="R852429df0cbc47b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c20ea9eedee4d8e" /><Relationship Type="http://schemas.openxmlformats.org/officeDocument/2006/relationships/image" Target="/ppt/media/image3.png" Id="R1a16aaa22efa48d9" /><Relationship Type="http://schemas.openxmlformats.org/officeDocument/2006/relationships/notesSlide" Target="/ppt/notesSlides/notesSlide7.xml" Id="R0196aac5514c4c8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8b2c1f943dd48c3" /><Relationship Type="http://schemas.openxmlformats.org/officeDocument/2006/relationships/notesSlide" Target="/ppt/notesSlides/notesSlide8.xml" Id="R88b937fc496b474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e2beca619d64497" /><Relationship Type="http://schemas.openxmlformats.org/officeDocument/2006/relationships/notesSlide" Target="/ppt/notesSlides/notesSlide9.xml" Id="Rac724df2e94f47a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fe27806f20d4e5b" /><Relationship Type="http://schemas.openxmlformats.org/officeDocument/2006/relationships/image" Target="/ppt/media/image2.jpeg" Id="Rcd71f9d8c0f94bef" /><Relationship Type="http://schemas.openxmlformats.org/officeDocument/2006/relationships/notesSlide" Target="/ppt/notesSlides/notesSlide10.xml" Id="R02e43fd0241d4eb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8E701D6-B6C4-4BFA-9235-846BB7D24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B0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e2e28766c34901"/>
          <a:srcRect xmlns:a="http://schemas.openxmlformats.org/drawingml/2006/main" l="19444" t="0" r="1944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05500" y="0"/>
            <a:ext cx="62865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C9C023-3612-4B1E-A8CC-3E387C4C5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6858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090B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12AA45-4BC4-47C1-B6B0-6A83FDD68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62000" y="4953000"/>
            <a:ext cx="28575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A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07E1CD-126E-4DFA-8B00-28F735112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-285750"/>
            <a:ext cx="2476500" cy="171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A22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6fad5a9be74d1d"/>
          <a:stretch xmlns:a="http://schemas.openxmlformats.org/drawingml/2006/main"/>
        </p:blipFill>
        <p:spPr>
          <a:xfrm xmlns:a="http://schemas.openxmlformats.org/drawingml/2006/main">
            <a:off x="571500" y="438150"/>
            <a:ext cx="876300" cy="8763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D1A0EC-A78E-4881-9BB0-E972BF532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7150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30F"/>
          </a:solidFill>
          <a:ln xmlns:a="http://schemas.openxmlformats.org/drawingml/2006/main" w="9525">
            <a:solidFill>
              <a:srgbClr val="FF6A1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EAC744-F50A-4492-8068-9F81DF66F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628650"/>
            <a:ext cx="2190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B27D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B27D"/>
                </a:solidFill>
                <a:latin typeface="Aptos"/>
                <a:ea typeface="Aptos"/>
                <a:cs typeface="Aptos"/>
              </a:rPr>
              <a:t>PLATAFORMA DIGITAL PARA GIMNASIOS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B68C53-A324-45FB-9A74-749649446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24000"/>
            <a:ext cx="47625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7F7F8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7F7F8"/>
                </a:solidFill>
                <a:latin typeface="Aptos Display"/>
                <a:ea typeface="Aptos Display"/>
                <a:cs typeface="Aptos Display"/>
              </a:rPr>
              <a:t>Dorian ya funciona como una plataforma premium para gimnasios.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BB2B60-4F3B-4C3F-BE44-9CF1CDA52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19400"/>
            <a:ext cx="4476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7B8B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B7B8BF"/>
                </a:solidFill>
                <a:latin typeface="Aptos"/>
                <a:ea typeface="Aptos"/>
                <a:cs typeface="Aptos"/>
              </a:rPr>
              <a:t>Web publica, panel administrativo, backend centralizado y app movil listos para operar una marca fitness con imagen premium y control real.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C9BE06-9249-448E-BDDA-F601B792E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76750"/>
            <a:ext cx="1143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6A1F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FF6A1F"/>
                </a:solidFill>
                <a:latin typeface="Aptos Display"/>
                <a:ea typeface="Aptos Display"/>
                <a:cs typeface="Aptos Display"/>
              </a:rPr>
              <a:t>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FE1634-9987-4A95-9434-220CEC07E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19650"/>
            <a:ext cx="1714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7B8B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7B8BF"/>
                </a:solidFill>
                <a:latin typeface="Aptos"/>
                <a:ea typeface="Aptos"/>
                <a:cs typeface="Aptos"/>
              </a:rPr>
              <a:t>Capas activas del sistema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A6E06E-6109-4828-AC26-9A7996CB3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4476750"/>
            <a:ext cx="1143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6A1F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FF6A1F"/>
                </a:solidFill>
                <a:latin typeface="Aptos Display"/>
                <a:ea typeface="Aptos Display"/>
                <a:cs typeface="Aptos Display"/>
              </a:rPr>
              <a:t>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3D14BF-904F-4021-B251-81210DDEB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4819650"/>
            <a:ext cx="1714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7B8B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7B8BF"/>
                </a:solidFill>
                <a:latin typeface="Aptos"/>
                <a:ea typeface="Aptos"/>
                <a:cs typeface="Aptos"/>
              </a:rPr>
              <a:t>Backend central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D16F9E-EE48-47DB-A5FD-653909B20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476750"/>
            <a:ext cx="1143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6A1F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FF6A1F"/>
                </a:solidFill>
                <a:latin typeface="Aptos Display"/>
                <a:ea typeface="Aptos Display"/>
                <a:cs typeface="Aptos Display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5F3777-D475-4421-BD64-278C487BC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819650"/>
            <a:ext cx="1714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7B8B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7B8BF"/>
                </a:solidFill>
                <a:latin typeface="Aptos"/>
                <a:ea typeface="Aptos"/>
                <a:cs typeface="Aptos"/>
              </a:rPr>
              <a:t>Canales visibles al cliente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28B7E3-20C1-4A2F-9330-79B90A766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48300"/>
            <a:ext cx="45339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218"/>
          </a:solidFill>
          <a:ln xmlns:a="http://schemas.openxmlformats.org/drawingml/2006/main" w="9525">
            <a:solidFill>
              <a:srgbClr val="2D2F3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9CC2C3-11F9-4E99-9B51-C6923954B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57850"/>
            <a:ext cx="40767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7F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7F7F8"/>
                </a:solidFill>
                <a:latin typeface="Aptos"/>
                <a:ea typeface="Aptos"/>
                <a:cs typeface="Aptos"/>
              </a:rPr>
              <a:t>Ideal para venderse como proyecto completo o como plataforma mensual administrada.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65F824-787C-4125-8F35-CFE98FB3A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24625"/>
            <a:ext cx="476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B8D97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8B8D97"/>
                </a:solidFill>
                <a:latin typeface="Aptos Mono"/>
                <a:ea typeface="Aptos Mono"/>
                <a:cs typeface="Aptos Mono"/>
              </a:rPr>
              <a:t>Dorian Platform  |  Mayo 2026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6B008E5-E4DC-488E-8D3D-1FF439DA3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24625"/>
            <a:ext cx="381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8B8D97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8B8D97"/>
                </a:solidFill>
                <a:latin typeface="Aptos Mono"/>
                <a:ea typeface="Aptos Mono"/>
                <a:cs typeface="Aptos Mono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81348425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EB615C9-ED43-4A02-8DCC-229FF4062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B0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2-marker">
            <a:extLst xmlns:a="http://schemas.openxmlformats.org/drawingml/2006/main">
              <a:ext uri="{FF2B5EF4-FFF2-40B4-BE49-F238E27FC236}">
                <a16:creationId xmlns:a16="http://schemas.microsoft.com/office/drawing/2014/main" id="{03B0483F-0079-4313-B895-CB42B188E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228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2-label">
            <a:extLst xmlns:a="http://schemas.openxmlformats.org/drawingml/2006/main">
              <a:ext uri="{FF2B5EF4-FFF2-40B4-BE49-F238E27FC236}">
                <a16:creationId xmlns:a16="http://schemas.microsoft.com/office/drawing/2014/main" id="{F4F349AA-F325-4908-8498-E5CA32268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6225"/>
            <a:ext cx="304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B27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B27D"/>
                </a:solidFill>
                <a:latin typeface="Aptos"/>
                <a:ea typeface="Aptos"/>
                <a:cs typeface="Aptos"/>
              </a:rPr>
              <a:t>CONTEXTO COMERCIAL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E2B4A4-39C0-4AB3-902D-603BA2FE1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81050"/>
            <a:ext cx="85725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7F7F8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7F7F8"/>
                </a:solidFill>
                <a:latin typeface="Aptos Display"/>
                <a:ea typeface="Aptos Display"/>
                <a:cs typeface="Aptos Display"/>
              </a:rPr>
              <a:t>Muchos gimnasios siguen vendiendo y operando desde herramientas separadas.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31BE60-9665-405F-ABD3-0080B9549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95450"/>
            <a:ext cx="8382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7B8B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B7B8BF"/>
                </a:solidFill>
                <a:latin typeface="Aptos"/>
                <a:ea typeface="Aptos"/>
                <a:cs typeface="Aptos"/>
              </a:rPr>
              <a:t>Cuando promociones, clases, clientes y experiencia del socio viven en sistemas distintos, el negocio pierde velocidad, consistencia y control.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CA3A7A-F10F-4DD2-81E6-0535F5CA0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86000"/>
            <a:ext cx="51435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318"/>
          </a:solidFill>
          <a:ln xmlns:a="http://schemas.openxmlformats.org/drawingml/2006/main" w="9525">
            <a:solidFill>
              <a:srgbClr val="2D2F3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8B760E-957E-48E9-8CE1-87A66F430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86000"/>
            <a:ext cx="51435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20F"/>
          </a:solidFill>
          <a:ln xmlns:a="http://schemas.openxmlformats.org/drawingml/2006/main" w="9525">
            <a:solidFill>
              <a:srgbClr val="FF6A1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2F2C70-C4ED-4CC3-AE0E-CE418E8E2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71750"/>
            <a:ext cx="209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F7F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7F7F8"/>
                </a:solidFill>
                <a:latin typeface="Aptos"/>
                <a:ea typeface="Aptos"/>
                <a:cs typeface="Aptos"/>
              </a:rPr>
              <a:t>Operacion fragmentada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3B4910-D1D2-4CA7-8802-F15FA91E1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57175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F7F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7F7F8"/>
                </a:solidFill>
                <a:latin typeface="Aptos"/>
                <a:ea typeface="Aptos"/>
                <a:cs typeface="Aptos"/>
              </a:rPr>
              <a:t>Operacion unificada con Dorian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CB5DD5-7E3D-4C87-B18E-13F77763E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24200"/>
            <a:ext cx="4381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7F7F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7F7F8"/>
                </a:solidFill>
                <a:latin typeface="Aptos"/>
                <a:ea typeface="Aptos"/>
                <a:cs typeface="Aptos"/>
              </a:rPr>
              <a:t>• La web solo informa y no conversa con la operacion.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03681F-EB66-41AA-B2C1-09DECCCFD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48050"/>
            <a:ext cx="4381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7F7F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7F7F8"/>
                </a:solidFill>
                <a:latin typeface="Aptos"/>
                <a:ea typeface="Aptos"/>
                <a:cs typeface="Aptos"/>
              </a:rPr>
              <a:t>• Promociones y planes cambian en varios lugares.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531C5A-A6A5-4B58-B046-FF6A4899C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71900"/>
            <a:ext cx="4381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7F7F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7F7F8"/>
                </a:solidFill>
                <a:latin typeface="Aptos"/>
                <a:ea typeface="Aptos"/>
                <a:cs typeface="Aptos"/>
              </a:rPr>
              <a:t>• Reservas y clases dependen de coordinacion manual.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872CAF-BDFF-4FF6-82FC-BBE8D6874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95750"/>
            <a:ext cx="4381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7F7F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7F7F8"/>
                </a:solidFill>
                <a:latin typeface="Aptos"/>
                <a:ea typeface="Aptos"/>
                <a:cs typeface="Aptos"/>
              </a:rPr>
              <a:t>• La marca se percibe fuerte afuera pero debil por dentro.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76F128-C2A7-43F2-B273-25D8D1D65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124200"/>
            <a:ext cx="4381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7F7F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7F7F8"/>
                </a:solidFill>
                <a:latin typeface="Aptos"/>
                <a:ea typeface="Aptos"/>
                <a:cs typeface="Aptos"/>
              </a:rPr>
              <a:t>• Una sola base central para web, admin y app.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CEE0C0-43EA-4A9C-9FA0-463DFF7D2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448050"/>
            <a:ext cx="4381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7F7F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7F7F8"/>
                </a:solidFill>
                <a:latin typeface="Aptos"/>
                <a:ea typeface="Aptos"/>
                <a:cs typeface="Aptos"/>
              </a:rPr>
              <a:t>• La operacion publica y la experiencia del cliente se conectan.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70E97E-BD7A-4539-A004-B377592DC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771900"/>
            <a:ext cx="4381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7F7F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7F7F8"/>
                </a:solidFill>
                <a:latin typeface="Aptos"/>
                <a:ea typeface="Aptos"/>
                <a:cs typeface="Aptos"/>
              </a:rPr>
              <a:t>• Promociones, clases, sucursales y membresias viven en un mismo sistema.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A44AC3-9FA8-438F-901F-2FAC0A87C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095750"/>
            <a:ext cx="4381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7F7F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7F7F8"/>
                </a:solidFill>
                <a:latin typeface="Aptos"/>
                <a:ea typeface="Aptos"/>
                <a:cs typeface="Aptos"/>
              </a:rPr>
              <a:t>• La marca se vuelve consistente en todos los canales.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67547C-4E42-4287-9550-CA8CFE281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24625"/>
            <a:ext cx="476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B8D97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8B8D97"/>
                </a:solidFill>
                <a:latin typeface="Aptos Mono"/>
                <a:ea typeface="Aptos Mono"/>
                <a:cs typeface="Aptos Mono"/>
              </a:rPr>
              <a:t>Dorian Platform  |  Mayo 2026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F28F9F-7715-4217-8307-6BC3DAA43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24625"/>
            <a:ext cx="381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8B8D97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8B8D97"/>
                </a:solidFill>
                <a:latin typeface="Aptos Mono"/>
                <a:ea typeface="Aptos Mono"/>
                <a:cs typeface="Aptos Mono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6413814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A5381E9-C1CB-468C-BB37-DF7E6A83F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B0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3-marker">
            <a:extLst xmlns:a="http://schemas.openxmlformats.org/drawingml/2006/main">
              <a:ext uri="{FF2B5EF4-FFF2-40B4-BE49-F238E27FC236}">
                <a16:creationId xmlns:a16="http://schemas.microsoft.com/office/drawing/2014/main" id="{EECDED38-B03F-4431-BCD3-5C0CD8CDA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228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3-label">
            <a:extLst xmlns:a="http://schemas.openxmlformats.org/drawingml/2006/main">
              <a:ext uri="{FF2B5EF4-FFF2-40B4-BE49-F238E27FC236}">
                <a16:creationId xmlns:a16="http://schemas.microsoft.com/office/drawing/2014/main" id="{AF77A5CD-A3D2-4DCD-9BEC-D240D3C46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6225"/>
            <a:ext cx="304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B27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B27D"/>
                </a:solidFill>
                <a:latin typeface="Aptos"/>
                <a:ea typeface="Aptos"/>
                <a:cs typeface="Aptos"/>
              </a:rPr>
              <a:t>PLATAFORMA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4E2748-0CF3-41D4-8FEF-2E8DC7E88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81050"/>
            <a:ext cx="89535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7F7F8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7F7F8"/>
                </a:solidFill>
                <a:latin typeface="Aptos Display"/>
                <a:ea typeface="Aptos Display"/>
                <a:cs typeface="Aptos Display"/>
              </a:rPr>
              <a:t>Dorian conecta captacion, operacion y experiencia del cliente sobre un solo backend.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EAB645-50C4-4698-BCCA-59E3BAFD5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95450"/>
            <a:ext cx="8953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7B8B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B7B8BF"/>
                </a:solidFill>
                <a:latin typeface="Aptos"/>
                <a:ea typeface="Aptos"/>
                <a:cs typeface="Aptos"/>
              </a:rPr>
              <a:t>La arquitectura actual ya permite operar marca, contenido comercial, administracion y relacion con el socio desde una misma base digital.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5291A4-82ED-4EE6-87A8-B1CFDE6B1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19350"/>
            <a:ext cx="22860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61B"/>
          </a:solidFill>
          <a:ln xmlns:a="http://schemas.openxmlformats.org/drawingml/2006/main" w="9525">
            <a:solidFill>
              <a:srgbClr val="2D2F3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888985-F2E4-4D04-A136-6B7B9F89F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90800"/>
            <a:ext cx="1943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7F7F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7F7F8"/>
                </a:solidFill>
                <a:latin typeface="Aptos"/>
                <a:ea typeface="Aptos"/>
                <a:cs typeface="Aptos"/>
              </a:rPr>
              <a:t>Web publica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42654F-35FA-41E3-A615-F2D6F53F9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33700"/>
            <a:ext cx="19431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7B8B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B7B8BF"/>
                </a:solidFill>
                <a:latin typeface="Aptos"/>
                <a:ea typeface="Aptos"/>
                <a:cs typeface="Aptos"/>
              </a:rPr>
              <a:t>Planes, promociones, clases, sedes y contacto como canal comercial de marca.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C7A143-161F-4985-8F3C-27FA586CC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57650"/>
            <a:ext cx="22860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61B"/>
          </a:solidFill>
          <a:ln xmlns:a="http://schemas.openxmlformats.org/drawingml/2006/main" w="9525">
            <a:solidFill>
              <a:srgbClr val="2D2F3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210D26-2D80-431B-8E58-1721349B3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29100"/>
            <a:ext cx="1943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7F7F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7F7F8"/>
                </a:solidFill>
                <a:latin typeface="Aptos"/>
                <a:ea typeface="Aptos"/>
                <a:cs typeface="Aptos"/>
              </a:rPr>
              <a:t>Panel admin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67B8AB-5985-4DE5-BFE1-B5C4FCFC8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0"/>
            <a:ext cx="19431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7B8B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B7B8BF"/>
                </a:solidFill>
                <a:latin typeface="Aptos"/>
                <a:ea typeface="Aptos"/>
                <a:cs typeface="Aptos"/>
              </a:rPr>
              <a:t>Sucursales, clases, membresias, promociones, clientes, staff y dashboard operativo.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21E906-2510-4DA8-AD68-579C91650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895600"/>
            <a:ext cx="47625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20F"/>
          </a:solidFill>
          <a:ln xmlns:a="http://schemas.openxmlformats.org/drawingml/2006/main" w="13335">
            <a:solidFill>
              <a:srgbClr val="FF6A1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AAEC8C-F0BE-4B59-83A1-2E9EA6D98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06705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30F"/>
          </a:solidFill>
          <a:ln xmlns:a="http://schemas.openxmlformats.org/drawingml/2006/main" w="9525">
            <a:solidFill>
              <a:srgbClr val="FF6A1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038334-2054-4D92-8430-8795FE795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124200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B27D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B27D"/>
                </a:solidFill>
                <a:latin typeface="Aptos"/>
                <a:ea typeface="Aptos"/>
                <a:cs typeface="Aptos"/>
              </a:rPr>
              <a:t>NUCLEO CENTRAL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386211-8FEF-4E86-85A4-92C03EC67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562350"/>
            <a:ext cx="3962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7F7F8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7F7F8"/>
                </a:solidFill>
                <a:latin typeface="Aptos"/>
                <a:ea typeface="Aptos"/>
                <a:cs typeface="Aptos"/>
              </a:rPr>
              <a:t>Backend .NET + PostgreSQL + API publica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436D18-F3FA-411D-80CB-98C860528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095750"/>
            <a:ext cx="36957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B7B8B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B7B8BF"/>
                </a:solidFill>
                <a:latin typeface="Aptos"/>
                <a:ea typeface="Aptos"/>
                <a:cs typeface="Aptos"/>
              </a:rPr>
              <a:t>Autenticacion, reglas del negocio, modulos fitness, promociones, reservas y administracion centralizada.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A18894-7FD1-4882-A92E-5ACF27D58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419350"/>
            <a:ext cx="22860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61B"/>
          </a:solidFill>
          <a:ln xmlns:a="http://schemas.openxmlformats.org/drawingml/2006/main" w="9525">
            <a:solidFill>
              <a:srgbClr val="2D2F3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8FC7ED-E661-4BA7-AF32-101AAB54C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590800"/>
            <a:ext cx="1943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7F7F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7F7F8"/>
                </a:solidFill>
                <a:latin typeface="Aptos"/>
                <a:ea typeface="Aptos"/>
                <a:cs typeface="Aptos"/>
              </a:rPr>
              <a:t>App movil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1A0975-8F8E-4DE5-9788-0DCAB329F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933700"/>
            <a:ext cx="19431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7B8B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B7B8BF"/>
                </a:solidFill>
                <a:latin typeface="Aptos"/>
                <a:ea typeface="Aptos"/>
                <a:cs typeface="Aptos"/>
              </a:rPr>
              <a:t>Membresia, reservas, promociones, ejercicios, plan, cuerpo, nutricion y perfil.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B8BFCFD-E07D-4979-A0A9-0164B6785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057650"/>
            <a:ext cx="22860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61B"/>
          </a:solidFill>
          <a:ln xmlns:a="http://schemas.openxmlformats.org/drawingml/2006/main" w="9525">
            <a:solidFill>
              <a:srgbClr val="2D2F3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6AFCB5B-8800-42E8-BA67-786478684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229100"/>
            <a:ext cx="1943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7F7F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7F7F8"/>
                </a:solidFill>
                <a:latin typeface="Aptos"/>
                <a:ea typeface="Aptos"/>
                <a:cs typeface="Aptos"/>
              </a:rPr>
              <a:t>Infra online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7F434A6-3349-4DA3-BFC2-67454112D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572000"/>
            <a:ext cx="19431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7B8B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B7B8BF"/>
                </a:solidFill>
                <a:latin typeface="Aptos"/>
                <a:ea typeface="Aptos"/>
                <a:cs typeface="Aptos"/>
              </a:rPr>
              <a:t>Backend en Railway y webs en Vercel, con repositorio en GitHub para continuidad.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56E6D11-1269-448F-B583-C90BBBCD0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333750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FF6A1F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FF6A1F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AA84BEC-A6B2-4EB6-81A0-D6EB598C5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514850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FF6A1F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FF6A1F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73703DB-93F0-4DA1-BE4E-0EE417524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333750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FF6A1F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FF6A1F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7118431-4896-43C1-80F9-77CF9043E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514850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FF6A1F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FF6A1F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E4CB401-D228-4206-AD90-0C0008AB4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24625"/>
            <a:ext cx="476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B8D97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8B8D97"/>
                </a:solidFill>
                <a:latin typeface="Aptos Mono"/>
                <a:ea typeface="Aptos Mono"/>
                <a:cs typeface="Aptos Mono"/>
              </a:rPr>
              <a:t>Dorian Platform  |  Mayo 2026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02666D6-7839-487B-9B8E-00A55F933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24625"/>
            <a:ext cx="381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8B8D97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8B8D97"/>
                </a:solidFill>
                <a:latin typeface="Aptos Mono"/>
                <a:ea typeface="Aptos Mono"/>
                <a:cs typeface="Aptos Mono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24089494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0C89941-DDF5-4DD4-8C68-ACA5D1AD3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61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4-marker">
            <a:extLst xmlns:a="http://schemas.openxmlformats.org/drawingml/2006/main">
              <a:ext uri="{FF2B5EF4-FFF2-40B4-BE49-F238E27FC236}">
                <a16:creationId xmlns:a16="http://schemas.microsoft.com/office/drawing/2014/main" id="{5F946850-8F91-4BD3-A8C0-0C562646C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228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4-label">
            <a:extLst xmlns:a="http://schemas.openxmlformats.org/drawingml/2006/main">
              <a:ext uri="{FF2B5EF4-FFF2-40B4-BE49-F238E27FC236}">
                <a16:creationId xmlns:a16="http://schemas.microsoft.com/office/drawing/2014/main" id="{EC087F1F-B06D-4632-9B55-EC76FF5EC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6225"/>
            <a:ext cx="304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B27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B27D"/>
                </a:solidFill>
                <a:latin typeface="Aptos"/>
                <a:ea typeface="Aptos"/>
                <a:cs typeface="Aptos"/>
              </a:rPr>
              <a:t>ESTADO ACTUAL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5CFB46-48BF-4CED-84D8-2A7B24AAA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81050"/>
            <a:ext cx="87630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7F7F8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7F7F8"/>
                </a:solidFill>
                <a:latin typeface="Aptos Display"/>
                <a:ea typeface="Aptos Display"/>
                <a:cs typeface="Aptos Display"/>
              </a:rPr>
              <a:t>El proyecto ya esta online y supera la etapa de concepto.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F9D598-CDDE-47F3-A8FC-8559CDB61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95450"/>
            <a:ext cx="8763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7B8B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B7B8BF"/>
                </a:solidFill>
                <a:latin typeface="Aptos"/>
                <a:ea typeface="Aptos"/>
                <a:cs typeface="Aptos"/>
              </a:rPr>
              <a:t>La plataforma ya tiene despliegues reales, modulos clave operativos y un flujo comercial demostrable para presentacion o venta.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AF8ADE-40AC-4C5C-8330-7B54B556A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24050"/>
            <a:ext cx="1143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6A1F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FF6A1F"/>
                </a:solidFill>
                <a:latin typeface="Aptos Display"/>
                <a:ea typeface="Aptos Display"/>
                <a:cs typeface="Aptos Display"/>
              </a:rPr>
              <a:t>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2FD493-C395-4DF5-B8EA-6B0E7F373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66950"/>
            <a:ext cx="1714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7B8B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7B8BF"/>
                </a:solidFill>
                <a:latin typeface="Aptos"/>
                <a:ea typeface="Aptos"/>
                <a:cs typeface="Aptos"/>
              </a:rPr>
              <a:t>Canales visibles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B2C310-B27D-4885-A5F1-27322E683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1924050"/>
            <a:ext cx="1143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6A1F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FF6A1F"/>
                </a:solidFill>
                <a:latin typeface="Aptos Display"/>
                <a:ea typeface="Aptos Display"/>
                <a:cs typeface="Aptos Display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39010F-C37B-4D03-A1B7-43DE14D65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266950"/>
            <a:ext cx="1714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7B8B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7B8BF"/>
                </a:solidFill>
                <a:latin typeface="Aptos"/>
                <a:ea typeface="Aptos"/>
                <a:cs typeface="Aptos"/>
              </a:rPr>
              <a:t>API central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90A430-D1FC-4CDD-B9E4-64C4159A7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924050"/>
            <a:ext cx="1143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6A1F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FF6A1F"/>
                </a:solidFill>
                <a:latin typeface="Aptos Display"/>
                <a:ea typeface="Aptos Display"/>
                <a:cs typeface="Aptos Display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438158-2CE0-4B74-8A78-86D345EA3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266950"/>
            <a:ext cx="1714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7B8B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7B8BF"/>
                </a:solidFill>
                <a:latin typeface="Aptos"/>
                <a:ea typeface="Aptos"/>
                <a:cs typeface="Aptos"/>
              </a:rPr>
              <a:t>APK release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7616C9-E0AE-48C5-AD71-48A34269D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924050"/>
            <a:ext cx="1143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6A1F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FF6A1F"/>
                </a:solidFill>
                <a:latin typeface="Aptos Display"/>
                <a:ea typeface="Aptos Display"/>
                <a:cs typeface="Aptos Display"/>
              </a:rPr>
              <a:t>5+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5BB473-32F5-42EC-A0E1-EECD492D1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266950"/>
            <a:ext cx="1714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7B8B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7B8BF"/>
                </a:solidFill>
                <a:latin typeface="Aptos"/>
                <a:ea typeface="Aptos"/>
                <a:cs typeface="Aptos"/>
              </a:rPr>
              <a:t>Modulos de negocio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206302-0024-43EB-B11E-A12B9D85E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00350"/>
            <a:ext cx="25527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61B"/>
          </a:solidFill>
          <a:ln xmlns:a="http://schemas.openxmlformats.org/drawingml/2006/main" w="9525">
            <a:solidFill>
              <a:srgbClr val="2D2F3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5ED68E-A74E-4A6B-BDD9-D14C9977F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71800"/>
            <a:ext cx="1714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7F7F8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7F7F8"/>
                </a:solidFill>
                <a:latin typeface="Aptos"/>
                <a:ea typeface="Aptos"/>
                <a:cs typeface="Aptos"/>
              </a:rPr>
              <a:t>Backend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439BE2-4DB2-4F48-9309-3F663D5B8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3375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7B8B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B7B8BF"/>
                </a:solidFill>
                <a:latin typeface="Aptos"/>
                <a:ea typeface="Aptos"/>
                <a:cs typeface="Aptos"/>
              </a:rPr>
              <a:t>API .NET + PostgreSQL desplegada en Railway.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DFDB0E-7E12-48BA-8696-3F1D75ED0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990850"/>
            <a:ext cx="552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3D39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3D39B"/>
                </a:solidFill>
                <a:latin typeface="Aptos"/>
                <a:ea typeface="Aptos"/>
                <a:cs typeface="Aptos"/>
              </a:rPr>
              <a:t>Online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609114-D5BC-444B-AE78-DF945D92D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800350"/>
            <a:ext cx="25527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61B"/>
          </a:solidFill>
          <a:ln xmlns:a="http://schemas.openxmlformats.org/drawingml/2006/main" w="9525">
            <a:solidFill>
              <a:srgbClr val="2D2F3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6D705A-AD20-45B1-A34A-85DA0C678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971800"/>
            <a:ext cx="1714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7F7F8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7F7F8"/>
                </a:solidFill>
                <a:latin typeface="Aptos"/>
                <a:ea typeface="Aptos"/>
                <a:cs typeface="Aptos"/>
              </a:rPr>
              <a:t>Web publica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85D6CE6-98D9-4485-93AC-A86DBD642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33375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7B8B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B7B8BF"/>
                </a:solidFill>
                <a:latin typeface="Aptos"/>
                <a:ea typeface="Aptos"/>
                <a:cs typeface="Aptos"/>
              </a:rPr>
              <a:t>Landing premium conectada al backend para planes, promociones, clases y sedes.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4A849A2-C802-422E-8496-0DDBD8643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990850"/>
            <a:ext cx="552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3D39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3D39B"/>
                </a:solidFill>
                <a:latin typeface="Aptos"/>
                <a:ea typeface="Aptos"/>
                <a:cs typeface="Aptos"/>
              </a:rPr>
              <a:t>Online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1DF86C1-DCB6-4E80-B9BE-2DB00D135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800350"/>
            <a:ext cx="25527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61B"/>
          </a:solidFill>
          <a:ln xmlns:a="http://schemas.openxmlformats.org/drawingml/2006/main" w="9525">
            <a:solidFill>
              <a:srgbClr val="2D2F3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43170D7-705F-46EE-9642-20E78C222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971800"/>
            <a:ext cx="1714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7F7F8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7F7F8"/>
                </a:solidFill>
                <a:latin typeface="Aptos"/>
                <a:ea typeface="Aptos"/>
                <a:cs typeface="Aptos"/>
              </a:rPr>
              <a:t>Admin panel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B9C7927-FADA-45A4-B897-A49B27696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33375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7B8B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B7B8BF"/>
                </a:solidFill>
                <a:latin typeface="Aptos"/>
                <a:ea typeface="Aptos"/>
                <a:cs typeface="Aptos"/>
              </a:rPr>
              <a:t>Panel Next.js para operacion interna con modulos reales.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15058AF-AD93-4587-8AA3-85F9F17BA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990850"/>
            <a:ext cx="552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3D39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3D39B"/>
                </a:solidFill>
                <a:latin typeface="Aptos"/>
                <a:ea typeface="Aptos"/>
                <a:cs typeface="Aptos"/>
              </a:rPr>
              <a:t>Online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BA46372-B094-4662-91E1-A4931B554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800350"/>
            <a:ext cx="25527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61B"/>
          </a:solidFill>
          <a:ln xmlns:a="http://schemas.openxmlformats.org/drawingml/2006/main" w="9525">
            <a:solidFill>
              <a:srgbClr val="2D2F3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E0F9DCA-58D6-4820-BE2C-B3CCE1558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971800"/>
            <a:ext cx="1714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7F7F8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7F7F8"/>
                </a:solidFill>
                <a:latin typeface="Aptos"/>
                <a:ea typeface="Aptos"/>
                <a:cs typeface="Aptos"/>
              </a:rPr>
              <a:t>App Android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ED39B1E-CBC4-4942-8297-EABBA5A3A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33375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7B8B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B7B8BF"/>
                </a:solidFill>
                <a:latin typeface="Aptos"/>
                <a:ea typeface="Aptos"/>
                <a:cs typeface="Aptos"/>
              </a:rPr>
              <a:t>APK release funcional conectada a la API publica.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1173C92-F09E-424F-A880-7AD6AAD43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2990850"/>
            <a:ext cx="552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3D39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3D39B"/>
                </a:solidFill>
                <a:latin typeface="Aptos"/>
                <a:ea typeface="Aptos"/>
                <a:cs typeface="Aptos"/>
              </a:rPr>
              <a:t>Online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131AC8A-5786-4899-A09C-DED6E1E34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38650"/>
            <a:ext cx="25527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61B"/>
          </a:solidFill>
          <a:ln xmlns:a="http://schemas.openxmlformats.org/drawingml/2006/main" w="9525">
            <a:solidFill>
              <a:srgbClr val="2D2F36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262A355-010A-400A-B25D-A99F04158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10100"/>
            <a:ext cx="1714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7F7F8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7F7F8"/>
                </a:solidFill>
                <a:latin typeface="Aptos"/>
                <a:ea typeface="Aptos"/>
                <a:cs typeface="Aptos"/>
              </a:rPr>
              <a:t>Onboarding fitness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D2F1B4D-1C28-4962-A057-8C56E575A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7205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7B8B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B7B8BF"/>
                </a:solidFill>
                <a:latin typeface="Aptos"/>
                <a:ea typeface="Aptos"/>
                <a:cs typeface="Aptos"/>
              </a:rPr>
              <a:t>Objetivo, grupos musculares, seleccion multiple y perfil personalizado.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BF66F2C-8E62-469F-B86F-9D970B8C1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629150"/>
            <a:ext cx="552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3D39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3D39B"/>
                </a:solidFill>
                <a:latin typeface="Aptos"/>
                <a:ea typeface="Aptos"/>
                <a:cs typeface="Aptos"/>
              </a:rPr>
              <a:t>Online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4109182-DA65-43A6-9414-AE04CC235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438650"/>
            <a:ext cx="25527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61B"/>
          </a:solidFill>
          <a:ln xmlns:a="http://schemas.openxmlformats.org/drawingml/2006/main" w="9525">
            <a:solidFill>
              <a:srgbClr val="2D2F36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244E015-0A14-4DA6-BDCF-CF7C7BD4E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610100"/>
            <a:ext cx="1714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7F7F8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7F7F8"/>
                </a:solidFill>
                <a:latin typeface="Aptos"/>
                <a:ea typeface="Aptos"/>
                <a:cs typeface="Aptos"/>
              </a:rPr>
              <a:t>Reservas y clases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FA9558D-465D-4B14-8379-56621E030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97205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7B8B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B7B8BF"/>
                </a:solidFill>
                <a:latin typeface="Aptos"/>
                <a:ea typeface="Aptos"/>
                <a:cs typeface="Aptos"/>
              </a:rPr>
              <a:t>Clases, reservas y flujo de cliente desde app y operacion.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F615968-1725-401B-A90B-6E78C269E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629150"/>
            <a:ext cx="552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3D39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3D39B"/>
                </a:solidFill>
                <a:latin typeface="Aptos"/>
                <a:ea typeface="Aptos"/>
                <a:cs typeface="Aptos"/>
              </a:rPr>
              <a:t>Online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987BBAC-8C84-42A9-AD0D-156177FCB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438650"/>
            <a:ext cx="25527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61B"/>
          </a:solidFill>
          <a:ln xmlns:a="http://schemas.openxmlformats.org/drawingml/2006/main" w="9525">
            <a:solidFill>
              <a:srgbClr val="2D2F36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52AE2AD-1416-4078-AD80-82561CB28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610100"/>
            <a:ext cx="1714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7F7F8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7F7F8"/>
                </a:solidFill>
                <a:latin typeface="Aptos"/>
                <a:ea typeface="Aptos"/>
                <a:cs typeface="Aptos"/>
              </a:rPr>
              <a:t>Promociones y planes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70399AA-9816-4AF6-BC4F-B52FE810E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97205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7B8B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B7B8BF"/>
                </a:solidFill>
                <a:latin typeface="Aptos"/>
                <a:ea typeface="Aptos"/>
                <a:cs typeface="Aptos"/>
              </a:rPr>
              <a:t>Promociones, membresias y mensajes comerciales listos para vender.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338ECBD-5442-446D-A2E1-2A553BFE0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629150"/>
            <a:ext cx="552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3D39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3D39B"/>
                </a:solidFill>
                <a:latin typeface="Aptos"/>
                <a:ea typeface="Aptos"/>
                <a:cs typeface="Aptos"/>
              </a:rPr>
              <a:t>Online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CDE3342-56FB-446A-AAD6-59C9F2C26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438650"/>
            <a:ext cx="25527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61B"/>
          </a:solidFill>
          <a:ln xmlns:a="http://schemas.openxmlformats.org/drawingml/2006/main" w="9525">
            <a:solidFill>
              <a:srgbClr val="2D2F36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B5B1D34-80DD-4BD7-AB87-B1C7202C9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610100"/>
            <a:ext cx="1714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7F7F8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7F7F8"/>
                </a:solidFill>
                <a:latin typeface="Aptos"/>
                <a:ea typeface="Aptos"/>
                <a:cs typeface="Aptos"/>
              </a:rPr>
              <a:t>Ejercicios demo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8DAC0CD-B1CF-4F99-90A0-14A2BBCF1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97205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7B8B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B7B8BF"/>
                </a:solidFill>
                <a:latin typeface="Aptos"/>
                <a:ea typeface="Aptos"/>
                <a:cs typeface="Aptos"/>
              </a:rPr>
              <a:t>ExerciseDB con gifs visibles, fallback local y traduccion parcial al espanol.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700D21C-CB47-4AD1-B5D1-2502DD37A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4629150"/>
            <a:ext cx="552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3D39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3D39B"/>
                </a:solidFill>
                <a:latin typeface="Aptos"/>
                <a:ea typeface="Aptos"/>
                <a:cs typeface="Aptos"/>
              </a:rPr>
              <a:t>Online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D59CC2B-2091-4AF1-818D-7FDA15E65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24625"/>
            <a:ext cx="476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B8D97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8B8D97"/>
                </a:solidFill>
                <a:latin typeface="Aptos Mono"/>
                <a:ea typeface="Aptos Mono"/>
                <a:cs typeface="Aptos Mono"/>
              </a:rPr>
              <a:t>Dorian Platform  |  Mayo 2026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2AD8C8A-9523-4E46-8583-C6F5B5DA9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24625"/>
            <a:ext cx="381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8B8D97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8B8D97"/>
                </a:solidFill>
                <a:latin typeface="Aptos Mono"/>
                <a:ea typeface="Aptos Mono"/>
                <a:cs typeface="Aptos Mono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98580760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DB6B31B-49A3-456B-804F-B7A3EDEED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B0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5-marker">
            <a:extLst xmlns:a="http://schemas.openxmlformats.org/drawingml/2006/main">
              <a:ext uri="{FF2B5EF4-FFF2-40B4-BE49-F238E27FC236}">
                <a16:creationId xmlns:a16="http://schemas.microsoft.com/office/drawing/2014/main" id="{C7F48F01-D6A0-49C9-AD3B-615B5AE35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228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5-label">
            <a:extLst xmlns:a="http://schemas.openxmlformats.org/drawingml/2006/main">
              <a:ext uri="{FF2B5EF4-FFF2-40B4-BE49-F238E27FC236}">
                <a16:creationId xmlns:a16="http://schemas.microsoft.com/office/drawing/2014/main" id="{2E8EDA91-7EC1-4077-A74D-63A11A6AD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6225"/>
            <a:ext cx="304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B27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B27D"/>
                </a:solidFill>
                <a:latin typeface="Aptos"/>
                <a:ea typeface="Aptos"/>
                <a:cs typeface="Aptos"/>
              </a:rPr>
              <a:t>CANAL PUBLICO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33E9BE-E1BE-4321-9B91-0DEC872F8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81050"/>
            <a:ext cx="91440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7F7F8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7F7F8"/>
                </a:solidFill>
                <a:latin typeface="Aptos Display"/>
                <a:ea typeface="Aptos Display"/>
                <a:cs typeface="Aptos Display"/>
              </a:rPr>
              <a:t>La web publica ya funciona como vitrina comercial y como puerta de entrada a la experiencia Dorian.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C4FFFB-82FF-4CD5-A98A-6D3F04F98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95450"/>
            <a:ext cx="9144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7B8B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B7B8BF"/>
                </a:solidFill>
                <a:latin typeface="Aptos"/>
                <a:ea typeface="Aptos"/>
                <a:cs typeface="Aptos"/>
              </a:rPr>
              <a:t>No es solo imagen de marca: ya comunica planes, sedes, clases, promociones y descarga de app con una narrativa premium fitness.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56fb83e8004907"/>
          <a:srcRect xmlns:a="http://schemas.openxmlformats.org/drawingml/2006/main" l="2921" t="0" r="292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2266950"/>
            <a:ext cx="5219700" cy="36957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E4D337-E3C9-4AED-8D55-2FBCCF775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66950"/>
            <a:ext cx="5219700" cy="3695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090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41B5DA-AC9E-4F1C-8F71-92680411F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90800"/>
            <a:ext cx="114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30F"/>
          </a:solidFill>
          <a:ln xmlns:a="http://schemas.openxmlformats.org/drawingml/2006/main" w="9525">
            <a:solidFill>
              <a:srgbClr val="FF6A1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59B739-4836-49F0-994D-6A29C9CAF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647950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B27D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B27D"/>
                </a:solidFill>
                <a:latin typeface="Aptos"/>
                <a:ea typeface="Aptos"/>
                <a:cs typeface="Aptos"/>
              </a:rPr>
              <a:t>PUBLIC SITE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0032F3-7368-41FE-B1B1-8CB5E9E27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266950"/>
            <a:ext cx="5334000" cy="3695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61B"/>
          </a:solidFill>
          <a:ln xmlns:a="http://schemas.openxmlformats.org/drawingml/2006/main" w="9525">
            <a:solidFill>
              <a:srgbClr val="2D2F3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04A687-36CA-4C45-9CA7-B5B0F009E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60985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F7F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7F7F8"/>
                </a:solidFill>
                <a:latin typeface="Aptos"/>
                <a:ea typeface="Aptos"/>
                <a:cs typeface="Aptos"/>
              </a:rPr>
              <a:t>Que ya transmite hoy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1FC54E-A47A-4CC6-9556-79B4C19BC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143250"/>
            <a:ext cx="447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7F7F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7F7F8"/>
                </a:solidFill>
                <a:latin typeface="Aptos"/>
                <a:ea typeface="Aptos"/>
                <a:cs typeface="Aptos"/>
              </a:rPr>
              <a:t>• Posicionamiento premium de marca.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AC7C43-C291-4EE4-A857-0791076FE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467100"/>
            <a:ext cx="447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7F7F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7F7F8"/>
                </a:solidFill>
                <a:latin typeface="Aptos"/>
                <a:ea typeface="Aptos"/>
                <a:cs typeface="Aptos"/>
              </a:rPr>
              <a:t>• CTA claros para planes, clases y descarga de app.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9E623A-30F1-403B-8B81-F7F860C14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790950"/>
            <a:ext cx="447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7F7F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7F7F8"/>
                </a:solidFill>
                <a:latin typeface="Aptos"/>
                <a:ea typeface="Aptos"/>
                <a:cs typeface="Aptos"/>
              </a:rPr>
              <a:t>• Sedes y sucursales visibles como propuesta real.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E68D7F-EC76-414E-91B3-40EA1AEDF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114800"/>
            <a:ext cx="447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7F7F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7F7F8"/>
                </a:solidFill>
                <a:latin typeface="Aptos"/>
                <a:ea typeface="Aptos"/>
                <a:cs typeface="Aptos"/>
              </a:rPr>
              <a:t>• Promociones activas conectadas al backend.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62F862-04B5-407F-9577-B045DDB17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438650"/>
            <a:ext cx="447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7F7F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7F7F8"/>
                </a:solidFill>
                <a:latin typeface="Aptos"/>
                <a:ea typeface="Aptos"/>
                <a:cs typeface="Aptos"/>
              </a:rPr>
              <a:t>• Narrativa mas aspiracional que institucional.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38F040-1E45-4835-BA37-E32CBA203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953000"/>
            <a:ext cx="4476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B27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B27D"/>
                </a:solidFill>
                <a:latin typeface="Aptos"/>
                <a:ea typeface="Aptos"/>
                <a:cs typeface="Aptos"/>
              </a:rPr>
              <a:t>Valor comercial: ayuda a captar clientes y a vender una imagen de club mas fuerte desde el primer contacto digital.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8D2D09-86FE-4DA8-9741-BAEB888B7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24625"/>
            <a:ext cx="476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B8D97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8B8D97"/>
                </a:solidFill>
                <a:latin typeface="Aptos Mono"/>
                <a:ea typeface="Aptos Mono"/>
                <a:cs typeface="Aptos Mono"/>
              </a:rPr>
              <a:t>Dorian Platform  |  Mayo 2026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1FF5C4-5DBF-4959-B4CA-D7284A668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24625"/>
            <a:ext cx="381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8B8D97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8B8D97"/>
                </a:solidFill>
                <a:latin typeface="Aptos Mono"/>
                <a:ea typeface="Aptos Mono"/>
                <a:cs typeface="Aptos Mono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40464313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B20021A-0226-4534-8F22-70013F12E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61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6-marker">
            <a:extLst xmlns:a="http://schemas.openxmlformats.org/drawingml/2006/main">
              <a:ext uri="{FF2B5EF4-FFF2-40B4-BE49-F238E27FC236}">
                <a16:creationId xmlns:a16="http://schemas.microsoft.com/office/drawing/2014/main" id="{327AC807-BD82-406B-80E1-D8B8385DA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228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6-label">
            <a:extLst xmlns:a="http://schemas.openxmlformats.org/drawingml/2006/main">
              <a:ext uri="{FF2B5EF4-FFF2-40B4-BE49-F238E27FC236}">
                <a16:creationId xmlns:a16="http://schemas.microsoft.com/office/drawing/2014/main" id="{7153CB00-5113-4A02-A211-4B75398B7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6225"/>
            <a:ext cx="304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B27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B27D"/>
                </a:solidFill>
                <a:latin typeface="Aptos"/>
                <a:ea typeface="Aptos"/>
                <a:cs typeface="Aptos"/>
              </a:rPr>
              <a:t>OPERACION INTERNA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999CF9-4F29-466A-B6B4-12BB5779A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81050"/>
            <a:ext cx="89535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7F7F8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7F7F8"/>
                </a:solidFill>
                <a:latin typeface="Aptos Display"/>
                <a:ea typeface="Aptos Display"/>
                <a:cs typeface="Aptos Display"/>
              </a:rPr>
              <a:t>El panel admin ya da control real sobre la operacion de un gimnasio o una cadena.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6339D2-C1A4-4078-9926-26238EDD7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95450"/>
            <a:ext cx="8953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7B8B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B7B8BF"/>
                </a:solidFill>
                <a:latin typeface="Aptos"/>
                <a:ea typeface="Aptos"/>
                <a:cs typeface="Aptos"/>
              </a:rPr>
              <a:t>El valor del proyecto no esta solo en verse bien hacia afuera. Tambien ya organiza lo que pasa dentro del negocio.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818F51-95C7-4699-AB0D-6406CC29B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81250"/>
            <a:ext cx="24193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61B"/>
          </a:solidFill>
          <a:ln xmlns:a="http://schemas.openxmlformats.org/drawingml/2006/main" w="9525">
            <a:solidFill>
              <a:srgbClr val="2D2F3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C4C8F3-E83F-4CB5-8F73-77F4BE19A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33650"/>
            <a:ext cx="190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7F7F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7F7F8"/>
                </a:solidFill>
                <a:latin typeface="Aptos"/>
                <a:ea typeface="Aptos"/>
                <a:cs typeface="Aptos"/>
              </a:rPr>
              <a:t>Sucursales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C30E27-3F94-4E01-824D-8DFC60629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5750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7B8B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B7B8BF"/>
                </a:solidFill>
                <a:latin typeface="Aptos"/>
                <a:ea typeface="Aptos"/>
                <a:cs typeface="Aptos"/>
              </a:rPr>
              <a:t>Datos de sedes, mapas, estado e informacion operativa.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3553DD-7FFC-48E3-A5D7-B002C3759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381250"/>
            <a:ext cx="24193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61B"/>
          </a:solidFill>
          <a:ln xmlns:a="http://schemas.openxmlformats.org/drawingml/2006/main" w="9525">
            <a:solidFill>
              <a:srgbClr val="2D2F3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7B204E-BAB4-4F31-B1D2-65F740929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533650"/>
            <a:ext cx="190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7F7F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7F7F8"/>
                </a:solidFill>
                <a:latin typeface="Aptos"/>
                <a:ea typeface="Aptos"/>
                <a:cs typeface="Aptos"/>
              </a:rPr>
              <a:t>Clases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B301AA-2CB8-4330-BCD8-238C63FDC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85750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7B8B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B7B8BF"/>
                </a:solidFill>
                <a:latin typeface="Aptos"/>
                <a:ea typeface="Aptos"/>
                <a:cs typeface="Aptos"/>
              </a:rPr>
              <a:t>Programacion, capacidad, horarios y control de sesiones.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6F3D47-2050-44FC-B526-8BD4CD23F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381250"/>
            <a:ext cx="24193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61B"/>
          </a:solidFill>
          <a:ln xmlns:a="http://schemas.openxmlformats.org/drawingml/2006/main" w="9525">
            <a:solidFill>
              <a:srgbClr val="2D2F3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35797D-E90C-46E5-A488-C0A70FC6C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533650"/>
            <a:ext cx="190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7F7F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7F7F8"/>
                </a:solidFill>
                <a:latin typeface="Aptos"/>
                <a:ea typeface="Aptos"/>
                <a:cs typeface="Aptos"/>
              </a:rPr>
              <a:t>Reservas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555925-3AA9-4513-AA7C-F632C4209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5750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7B8B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B7B8BF"/>
                </a:solidFill>
                <a:latin typeface="Aptos"/>
                <a:ea typeface="Aptos"/>
                <a:cs typeface="Aptos"/>
              </a:rPr>
              <a:t>Seguimiento de cupos, clientes reservados y disponibilidad.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1F2496-00D5-429D-91EE-356D07757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381250"/>
            <a:ext cx="24193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61B"/>
          </a:solidFill>
          <a:ln xmlns:a="http://schemas.openxmlformats.org/drawingml/2006/main" w="9525">
            <a:solidFill>
              <a:srgbClr val="2D2F3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F74A95-10D0-4944-B0C3-B8B684EDE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533650"/>
            <a:ext cx="190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7F7F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7F7F8"/>
                </a:solidFill>
                <a:latin typeface="Aptos"/>
                <a:ea typeface="Aptos"/>
                <a:cs typeface="Aptos"/>
              </a:rPr>
              <a:t>Promociones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BAB106-1B54-4516-8460-E4349DEA3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85750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7B8B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B7B8BF"/>
                </a:solidFill>
                <a:latin typeface="Aptos"/>
                <a:ea typeface="Aptos"/>
                <a:cs typeface="Aptos"/>
              </a:rPr>
              <a:t>Campanas por sucursal o globales con activacion y vigencia.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7A7218-D57D-4E39-83BF-6E73380FD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0"/>
            <a:ext cx="24193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61B"/>
          </a:solidFill>
          <a:ln xmlns:a="http://schemas.openxmlformats.org/drawingml/2006/main" w="9525">
            <a:solidFill>
              <a:srgbClr val="2D2F3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E8B5C2-8D73-4A2B-914A-98D18ED03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62400"/>
            <a:ext cx="190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7F7F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7F7F8"/>
                </a:solidFill>
                <a:latin typeface="Aptos"/>
                <a:ea typeface="Aptos"/>
                <a:cs typeface="Aptos"/>
              </a:rPr>
              <a:t>Membresias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F1AA1B-D168-44A5-8160-4D65F7F96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8625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7B8B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B7B8BF"/>
                </a:solidFill>
                <a:latin typeface="Aptos"/>
                <a:ea typeface="Aptos"/>
                <a:cs typeface="Aptos"/>
              </a:rPr>
              <a:t>Planes, duracion, precio y disponibilidad comercial.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9F742F-7BFD-4DDF-8DF0-2E4AB26A4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810000"/>
            <a:ext cx="24193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61B"/>
          </a:solidFill>
          <a:ln xmlns:a="http://schemas.openxmlformats.org/drawingml/2006/main" w="9525">
            <a:solidFill>
              <a:srgbClr val="2D2F3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10650AC-ED8C-4304-9F65-9B3033113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962400"/>
            <a:ext cx="190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7F7F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7F7F8"/>
                </a:solidFill>
                <a:latin typeface="Aptos"/>
                <a:ea typeface="Aptos"/>
                <a:cs typeface="Aptos"/>
              </a:rPr>
              <a:t>Clientes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E4C0CB1-9DD2-4866-9B6E-BCED9F300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28625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7B8B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B7B8BF"/>
                </a:solidFill>
                <a:latin typeface="Aptos"/>
                <a:ea typeface="Aptos"/>
                <a:cs typeface="Aptos"/>
              </a:rPr>
              <a:t>Casos activos, vencidos, pendientes y detalle de perfiles.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FB28A9C-1EB0-4735-A64F-7399BCE30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810000"/>
            <a:ext cx="24193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61B"/>
          </a:solidFill>
          <a:ln xmlns:a="http://schemas.openxmlformats.org/drawingml/2006/main" w="9525">
            <a:solidFill>
              <a:srgbClr val="2D2F3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055B53F-1935-4500-A2E1-8A25D9514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962400"/>
            <a:ext cx="190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7F7F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7F7F8"/>
                </a:solidFill>
                <a:latin typeface="Aptos"/>
                <a:ea typeface="Aptos"/>
                <a:cs typeface="Aptos"/>
              </a:rPr>
              <a:t>Personal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3D7DE79-E52C-4F6E-8A1A-07A642081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28625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7B8B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B7B8BF"/>
                </a:solidFill>
                <a:latin typeface="Aptos"/>
                <a:ea typeface="Aptos"/>
                <a:cs typeface="Aptos"/>
              </a:rPr>
              <a:t>Staff operativo y administrativo por rol y sucursal.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A0FEC3D-77CD-4886-95E5-47F75F1C3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810000"/>
            <a:ext cx="24193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61B"/>
          </a:solidFill>
          <a:ln xmlns:a="http://schemas.openxmlformats.org/drawingml/2006/main" w="9525">
            <a:solidFill>
              <a:srgbClr val="2D2F3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692D57D-9E39-48CE-A959-343635124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962400"/>
            <a:ext cx="190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7F7F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7F7F8"/>
                </a:solidFill>
                <a:latin typeface="Aptos"/>
                <a:ea typeface="Aptos"/>
                <a:cs typeface="Aptos"/>
              </a:rPr>
              <a:t>Dashboard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A6153DE-2903-4FA8-BEE1-633126E57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28625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7B8B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B7B8BF"/>
                </a:solidFill>
                <a:latin typeface="Aptos"/>
                <a:ea typeface="Aptos"/>
                <a:cs typeface="Aptos"/>
              </a:rPr>
              <a:t>Resumen de clientes, clases, check-ins e ingresos estimados.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90C068A-1043-4D2D-A08C-EEBBDA98B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43550"/>
            <a:ext cx="1104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B27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B27D"/>
                </a:solidFill>
                <a:latin typeface="Aptos"/>
                <a:ea typeface="Aptos"/>
                <a:cs typeface="Aptos"/>
              </a:rPr>
              <a:t>Valor operativo: menos dispersion, mejor control y mas capacidad de escalar a varias sedes con una sola administracion.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5E36A5F-F923-42D2-8C7A-42BEF0905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24625"/>
            <a:ext cx="476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B8D97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8B8D97"/>
                </a:solidFill>
                <a:latin typeface="Aptos Mono"/>
                <a:ea typeface="Aptos Mono"/>
                <a:cs typeface="Aptos Mono"/>
              </a:rPr>
              <a:t>Dorian Platform  |  Mayo 2026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33C48FB-8843-4121-B494-A474265C3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24625"/>
            <a:ext cx="381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8B8D97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8B8D97"/>
                </a:solidFill>
                <a:latin typeface="Aptos Mono"/>
                <a:ea typeface="Aptos Mono"/>
                <a:cs typeface="Aptos Mono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5121454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F70FEEC-2C7A-44FC-AF0C-A5882F5D5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B0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7-marker">
            <a:extLst xmlns:a="http://schemas.openxmlformats.org/drawingml/2006/main">
              <a:ext uri="{FF2B5EF4-FFF2-40B4-BE49-F238E27FC236}">
                <a16:creationId xmlns:a16="http://schemas.microsoft.com/office/drawing/2014/main" id="{70B5CB26-7E91-496C-8203-8B4AC81D5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228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7-label">
            <a:extLst xmlns:a="http://schemas.openxmlformats.org/drawingml/2006/main">
              <a:ext uri="{FF2B5EF4-FFF2-40B4-BE49-F238E27FC236}">
                <a16:creationId xmlns:a16="http://schemas.microsoft.com/office/drawing/2014/main" id="{0C1E4611-51AE-4FD2-85D2-DEA8EC966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6225"/>
            <a:ext cx="304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B27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B27D"/>
                </a:solidFill>
                <a:latin typeface="Aptos"/>
                <a:ea typeface="Aptos"/>
                <a:cs typeface="Aptos"/>
              </a:rPr>
              <a:t>EXPERIENCIA DEL SOCIO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9269BB-6040-454E-925A-F85F6D6D8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81050"/>
            <a:ext cx="91440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F7F7F8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>
                <a:solidFill>
                  <a:srgbClr val="F7F7F8"/>
                </a:solidFill>
                <a:latin typeface="Aptos Display"/>
                <a:ea typeface="Aptos Display"/>
                <a:cs typeface="Aptos Display"/>
              </a:rPr>
              <a:t>La app movil convierte la relacion con el cliente en una experiencia continua, no solo en una venta inicial.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85FAA1-0F9A-40BD-9E86-D06587C67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95450"/>
            <a:ext cx="9144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7B8B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B7B8BF"/>
                </a:solidFill>
                <a:latin typeface="Aptos"/>
                <a:ea typeface="Aptos"/>
                <a:cs typeface="Aptos"/>
              </a:rPr>
              <a:t>Desde la membresia y las reservas hasta el entrenamiento, nutricion y progreso personal, la app extiende la marca dentro del dia a dia del socio.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16aaa22efa48d9"/>
          <a:stretch xmlns:a="http://schemas.openxmlformats.org/drawingml/2006/main"/>
        </p:blipFill>
        <p:spPr>
          <a:xfrm xmlns:a="http://schemas.openxmlformats.org/drawingml/2006/main">
            <a:off x="714375" y="2628900"/>
            <a:ext cx="2095500" cy="31432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66DC7B-394E-48E3-8635-FD7911F20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628900"/>
            <a:ext cx="84010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318"/>
          </a:solidFill>
          <a:ln xmlns:a="http://schemas.openxmlformats.org/drawingml/2006/main" w="9525">
            <a:solidFill>
              <a:srgbClr val="2D2F3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873119-2D11-4990-94CC-4FFC24ED5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933700"/>
            <a:ext cx="1905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61B"/>
          </a:solidFill>
          <a:ln xmlns:a="http://schemas.openxmlformats.org/drawingml/2006/main" w="9525">
            <a:solidFill>
              <a:srgbClr val="2D2F3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4BA7C5-2E3E-4D95-9B25-5A66007EB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06705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B27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B27D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43E42F-AC3C-4974-B136-FB8144243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33375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7F7F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7F7F8"/>
                </a:solidFill>
                <a:latin typeface="Aptos"/>
                <a:ea typeface="Aptos"/>
                <a:cs typeface="Aptos"/>
              </a:rPr>
              <a:t>Ingresar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B00679-E40A-4ED2-9493-D0D7DE596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657600"/>
            <a:ext cx="1600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7B8B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B7B8BF"/>
                </a:solidFill>
                <a:latin typeface="Aptos"/>
                <a:ea typeface="Aptos"/>
                <a:cs typeface="Aptos"/>
              </a:rPr>
              <a:t>Login y onboarding personalizado segun objetivo y perfil fitness.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8D74BA-56FF-4B79-8973-11059A375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933700"/>
            <a:ext cx="1905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61B"/>
          </a:solidFill>
          <a:ln xmlns:a="http://schemas.openxmlformats.org/drawingml/2006/main" w="9525">
            <a:solidFill>
              <a:srgbClr val="2D2F3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49D0C9-7901-4C33-97A8-04056B62B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06705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B27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B27D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B7E09F-B5C0-4777-A528-4782D162E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33375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7F7F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7F7F8"/>
                </a:solidFill>
                <a:latin typeface="Aptos"/>
                <a:ea typeface="Aptos"/>
                <a:cs typeface="Aptos"/>
              </a:rPr>
              <a:t>Activar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D116DC-857E-404C-8EC8-B681F6C3D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657600"/>
            <a:ext cx="1600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7B8B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B7B8BF"/>
                </a:solidFill>
                <a:latin typeface="Aptos"/>
                <a:ea typeface="Aptos"/>
                <a:cs typeface="Aptos"/>
              </a:rPr>
              <a:t>Membresia, QR y acceso a contenido y modulos del club.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677139-F09E-43FE-9BA5-42D276F4D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933700"/>
            <a:ext cx="1905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61B"/>
          </a:solidFill>
          <a:ln xmlns:a="http://schemas.openxmlformats.org/drawingml/2006/main" w="9525">
            <a:solidFill>
              <a:srgbClr val="2D2F3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1AA056-FC96-4967-B864-A24B46A03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06705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B27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B27D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7D553A-8DAE-4139-9C80-500729DA4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33375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7F7F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7F7F8"/>
                </a:solidFill>
                <a:latin typeface="Aptos"/>
                <a:ea typeface="Aptos"/>
                <a:cs typeface="Aptos"/>
              </a:rPr>
              <a:t>Entrenar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676967-4E11-498F-B40C-1B4E42E1F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657600"/>
            <a:ext cx="1600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7B8B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B7B8BF"/>
                </a:solidFill>
                <a:latin typeface="Aptos"/>
                <a:ea typeface="Aptos"/>
                <a:cs typeface="Aptos"/>
              </a:rPr>
              <a:t>Clases, ejercicios, plan, cuerpo y seguimiento del progreso.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34DD7A-7B62-4A26-8AEA-3E20C3E14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933700"/>
            <a:ext cx="1905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61B"/>
          </a:solidFill>
          <a:ln xmlns:a="http://schemas.openxmlformats.org/drawingml/2006/main" w="9525">
            <a:solidFill>
              <a:srgbClr val="2D2F3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37A6795-BF73-4F0A-ADBB-69772C1C5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06705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B27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B27D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EA3B4BB-FB9D-4AE2-8A8A-94215C312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33375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7F7F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7F7F8"/>
                </a:solidFill>
                <a:latin typeface="Aptos"/>
                <a:ea typeface="Aptos"/>
                <a:cs typeface="Aptos"/>
              </a:rPr>
              <a:t>Retener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962B189-1958-4929-91F6-CD78D49A6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657600"/>
            <a:ext cx="1600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7B8B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B7B8BF"/>
                </a:solidFill>
                <a:latin typeface="Aptos"/>
                <a:ea typeface="Aptos"/>
                <a:cs typeface="Aptos"/>
              </a:rPr>
              <a:t>Mas contacto con la marca, mas recurrencia y mas valor percibido.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7E64363-4536-4A38-ADC6-721BF07B2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00750"/>
            <a:ext cx="1104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B27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B27D"/>
                </a:solidFill>
                <a:latin typeface="Aptos"/>
                <a:ea typeface="Aptos"/>
                <a:cs typeface="Aptos"/>
              </a:rPr>
              <a:t>Valor de relacion: la app no reemplaza al gimnasio; lo vuelve mas cercano, mas ordenado y mas presente en la rutina del cliente.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289B6C4-6268-4786-B91D-D87399AFC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24625"/>
            <a:ext cx="476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B8D97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8B8D97"/>
                </a:solidFill>
                <a:latin typeface="Aptos Mono"/>
                <a:ea typeface="Aptos Mono"/>
                <a:cs typeface="Aptos Mono"/>
              </a:rPr>
              <a:t>Dorian Platform  |  Mayo 2026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A8BBD26-7442-4B9A-A330-EBE9B74B7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24625"/>
            <a:ext cx="381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8B8D97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8B8D97"/>
                </a:solidFill>
                <a:latin typeface="Aptos Mono"/>
                <a:ea typeface="Aptos Mono"/>
                <a:cs typeface="Aptos Mono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60053327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AC9B21A-B752-47FF-84F1-7E3CEA5A0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61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8-marker">
            <a:extLst xmlns:a="http://schemas.openxmlformats.org/drawingml/2006/main">
              <a:ext uri="{FF2B5EF4-FFF2-40B4-BE49-F238E27FC236}">
                <a16:creationId xmlns:a16="http://schemas.microsoft.com/office/drawing/2014/main" id="{6295E7C7-00B7-4D83-86CA-49A546CEF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228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8-label">
            <a:extLst xmlns:a="http://schemas.openxmlformats.org/drawingml/2006/main">
              <a:ext uri="{FF2B5EF4-FFF2-40B4-BE49-F238E27FC236}">
                <a16:creationId xmlns:a16="http://schemas.microsoft.com/office/drawing/2014/main" id="{675B8C9C-C3C0-4C99-8E4D-E26DFD7B5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6225"/>
            <a:ext cx="304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B27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B27D"/>
                </a:solidFill>
                <a:latin typeface="Aptos"/>
                <a:ea typeface="Aptos"/>
                <a:cs typeface="Aptos"/>
              </a:rPr>
              <a:t>IMPACTO DEL NEGOCIO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9E222A-40FB-4B29-BD70-F9D50985B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81050"/>
            <a:ext cx="93345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F7F7F8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>
                <a:solidFill>
                  <a:srgbClr val="F7F7F8"/>
                </a:solidFill>
                <a:latin typeface="Aptos Display"/>
                <a:ea typeface="Aptos Display"/>
                <a:cs typeface="Aptos Display"/>
              </a:rPr>
              <a:t>El valor de Dorian no es tecnico solamente: se traduce en marca, orden comercial y continuidad operativa.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84408F-86D3-4608-94F4-E84E2323B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95450"/>
            <a:ext cx="9334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7B8B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B7B8BF"/>
                </a:solidFill>
                <a:latin typeface="Aptos"/>
                <a:ea typeface="Aptos"/>
                <a:cs typeface="Aptos"/>
              </a:rPr>
              <a:t>Cuando una sola plataforma sostiene captacion, administracion y experiencia, el negocio gana consistencia y base para crecer.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29594F-0F8D-43B7-963B-8CC5B6DE5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0"/>
            <a:ext cx="53340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61B"/>
          </a:solidFill>
          <a:ln xmlns:a="http://schemas.openxmlformats.org/drawingml/2006/main" w="9525">
            <a:solidFill>
              <a:srgbClr val="2D2F3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08432B-0C13-4FAD-8F3E-88972CBF5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47950"/>
            <a:ext cx="190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7F7F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7F7F8"/>
                </a:solidFill>
                <a:latin typeface="Aptos"/>
                <a:ea typeface="Aptos"/>
                <a:cs typeface="Aptos"/>
              </a:rPr>
              <a:t>Capacidad del sistema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86E696-96F8-4EE3-8E19-85D365851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647950"/>
            <a:ext cx="190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7F7F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7F7F8"/>
                </a:solidFill>
                <a:latin typeface="Aptos"/>
                <a:ea typeface="Aptos"/>
                <a:cs typeface="Aptos"/>
              </a:rPr>
              <a:t>Resultado esperado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3AA95E-EF57-4288-8EDC-9EFA64C53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67050"/>
            <a:ext cx="2095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7B8B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B7B8BF"/>
                </a:solidFill>
                <a:latin typeface="Aptos"/>
                <a:ea typeface="Aptos"/>
                <a:cs typeface="Aptos"/>
              </a:rPr>
              <a:t>Promociones, planes y sedes en un solo flujo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590870-E5A4-453E-8AEB-729B97CBA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086100"/>
            <a:ext cx="438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FF6A1F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FF6A1F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8A19EB-B7CC-485D-A555-3350E0D74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067050"/>
            <a:ext cx="2038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7F7F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7F7F8"/>
                </a:solidFill>
                <a:latin typeface="Aptos"/>
                <a:ea typeface="Aptos"/>
                <a:cs typeface="Aptos"/>
              </a:rPr>
              <a:t>menos dispersion comercial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3E36EA-2153-47DB-9320-50A1D2593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57600"/>
            <a:ext cx="2095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7B8B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B7B8BF"/>
                </a:solidFill>
                <a:latin typeface="Aptos"/>
                <a:ea typeface="Aptos"/>
                <a:cs typeface="Aptos"/>
              </a:rPr>
              <a:t>Panel admin con modulos reales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0E196D-8D71-4894-B31B-4835F3DA9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676650"/>
            <a:ext cx="438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FF6A1F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FF6A1F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FB3213-6207-4F52-964E-449D0A1B7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57600"/>
            <a:ext cx="2038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7F7F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7F7F8"/>
                </a:solidFill>
                <a:latin typeface="Aptos"/>
                <a:ea typeface="Aptos"/>
                <a:cs typeface="Aptos"/>
              </a:rPr>
              <a:t>mas control operativo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9EEA86-EB31-48A9-BBED-5C2E81D41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48150"/>
            <a:ext cx="2095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7B8B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B7B8BF"/>
                </a:solidFill>
                <a:latin typeface="Aptos"/>
                <a:ea typeface="Aptos"/>
                <a:cs typeface="Aptos"/>
              </a:rPr>
              <a:t>App del cliente conectada al backend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F1E244-97E8-4534-997A-95DDFCD0F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267200"/>
            <a:ext cx="438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FF6A1F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FF6A1F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B91ED3-7844-48F9-AEB5-80E29FF36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248150"/>
            <a:ext cx="2038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7F7F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7F7F8"/>
                </a:solidFill>
                <a:latin typeface="Aptos"/>
                <a:ea typeface="Aptos"/>
                <a:cs typeface="Aptos"/>
              </a:rPr>
              <a:t>mas valor percibido y retencion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4DAD53-7DC7-4912-BA22-5FBEB6E9F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38700"/>
            <a:ext cx="2095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7B8B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B7B8BF"/>
                </a:solidFill>
                <a:latin typeface="Aptos"/>
                <a:ea typeface="Aptos"/>
                <a:cs typeface="Aptos"/>
              </a:rPr>
              <a:t>Marca premium en web y app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36C249-A8CC-48AA-95DF-302139AFA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857750"/>
            <a:ext cx="438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FF6A1F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FF6A1F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21F3A0-46C6-4E82-8251-DDDCA2651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838700"/>
            <a:ext cx="2038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7F7F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7F7F8"/>
                </a:solidFill>
                <a:latin typeface="Aptos"/>
                <a:ea typeface="Aptos"/>
                <a:cs typeface="Aptos"/>
              </a:rPr>
              <a:t>mejor posicionamiento frente a gimnasios locales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65D0352-ECBB-4E27-8C5B-18C39BB61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476500"/>
            <a:ext cx="27622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30F"/>
          </a:solidFill>
          <a:ln xmlns:a="http://schemas.openxmlformats.org/drawingml/2006/main" w="9525">
            <a:solidFill>
              <a:srgbClr val="FF6A1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E9A54E5-19E6-4BF7-B0CA-FA9298C4E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762250"/>
            <a:ext cx="22098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7F7F8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7F7F8"/>
                </a:solidFill>
                <a:latin typeface="Aptos"/>
                <a:ea typeface="Aptos"/>
                <a:cs typeface="Aptos"/>
              </a:rPr>
              <a:t>El comprador no adquiere una idea.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5F656EF-8C70-4A3F-8B2C-35E36869A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676650"/>
            <a:ext cx="22098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B27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FB27D"/>
                </a:solidFill>
                <a:latin typeface="Aptos"/>
                <a:ea typeface="Aptos"/>
                <a:cs typeface="Aptos"/>
              </a:rPr>
              <a:t>Adquiere una base funcional para vender, operar y evolucionar digitalmente un gimnasio o una red de sedes.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3B2034A-4A66-417D-BEF4-25EFDA3D0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24625"/>
            <a:ext cx="476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B8D97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8B8D97"/>
                </a:solidFill>
                <a:latin typeface="Aptos Mono"/>
                <a:ea typeface="Aptos Mono"/>
                <a:cs typeface="Aptos Mono"/>
              </a:rPr>
              <a:t>Dorian Platform  |  Mayo 2026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DCE4FFE-FE14-48B2-B003-EC51A5ED2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24625"/>
            <a:ext cx="381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8B8D97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8B8D97"/>
                </a:solidFill>
                <a:latin typeface="Aptos Mono"/>
                <a:ea typeface="Aptos Mono"/>
                <a:cs typeface="Aptos Mono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830844123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8E243DD-FAE3-4359-A073-3655E58EA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B0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9-marker">
            <a:extLst xmlns:a="http://schemas.openxmlformats.org/drawingml/2006/main">
              <a:ext uri="{FF2B5EF4-FFF2-40B4-BE49-F238E27FC236}">
                <a16:creationId xmlns:a16="http://schemas.microsoft.com/office/drawing/2014/main" id="{5455E5E3-7E7E-48BF-BC0E-D8CA704D6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228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9-label">
            <a:extLst xmlns:a="http://schemas.openxmlformats.org/drawingml/2006/main">
              <a:ext uri="{FF2B5EF4-FFF2-40B4-BE49-F238E27FC236}">
                <a16:creationId xmlns:a16="http://schemas.microsoft.com/office/drawing/2014/main" id="{BBED0039-F439-48AD-98F9-2391B3657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6225"/>
            <a:ext cx="304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B27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B27D"/>
                </a:solidFill>
                <a:latin typeface="Aptos"/>
                <a:ea typeface="Aptos"/>
                <a:cs typeface="Aptos"/>
              </a:rPr>
              <a:t>MODELO COMERCIAL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281956-2BBB-4AED-8036-C6BA30279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81050"/>
            <a:ext cx="96202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F7F7F8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>
                <a:solidFill>
                  <a:srgbClr val="F7F7F8"/>
                </a:solidFill>
                <a:latin typeface="Aptos Display"/>
                <a:ea typeface="Aptos Display"/>
                <a:cs typeface="Aptos Display"/>
              </a:rPr>
              <a:t>Dorian puede venderse como proyecto completo o como plataforma mensual administrada.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0516A8-8F75-4854-9D8D-6768E31D3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95450"/>
            <a:ext cx="9620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7B8B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B7B8BF"/>
                </a:solidFill>
                <a:latin typeface="Aptos"/>
                <a:ea typeface="Aptos"/>
                <a:cs typeface="Aptos"/>
              </a:rPr>
              <a:t>La mejor opcion depende de si quieres una salida unica o construir un activo SaaS reutilizable para mas gimnasios.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C97841-7C97-473C-B82A-E5B7E864F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0"/>
            <a:ext cx="52197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61B"/>
          </a:solidFill>
          <a:ln xmlns:a="http://schemas.openxmlformats.org/drawingml/2006/main" w="9525">
            <a:solidFill>
              <a:srgbClr val="2D2F3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400955-68AC-497E-9ED2-DB4E72BD8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0510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7F7F8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7F7F8"/>
                </a:solidFill>
                <a:latin typeface="Aptos"/>
                <a:ea typeface="Aptos"/>
                <a:cs typeface="Aptos"/>
              </a:rPr>
              <a:t>Venta del proyecto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83781D-4BB4-49C7-81D3-3F932F4F7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81350"/>
            <a:ext cx="3429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7F7F8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7F7F8"/>
                </a:solidFill>
                <a:latin typeface="Aptos Display"/>
                <a:ea typeface="Aptos Display"/>
                <a:cs typeface="Aptos Display"/>
              </a:rPr>
              <a:t>Pago unico + operacion mensual opcional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45DB82-500C-4092-983C-4958334F6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33850"/>
            <a:ext cx="4476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7B8B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B7B8BF"/>
                </a:solidFill>
                <a:latin typeface="Aptos"/>
                <a:ea typeface="Aptos"/>
                <a:cs typeface="Aptos"/>
              </a:rPr>
              <a:t>• Cesion de codigo, despliegues y documentacion.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16EBB1-4201-4875-BAD8-6909C34FB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57700"/>
            <a:ext cx="4476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7B8B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B7B8BF"/>
                </a:solidFill>
                <a:latin typeface="Aptos"/>
                <a:ea typeface="Aptos"/>
                <a:cs typeface="Aptos"/>
              </a:rPr>
              <a:t>• Ideal para comprador que quiere propiedad total.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C9D6EB-FBCC-43C9-9362-5503F8151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81550"/>
            <a:ext cx="4476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7B8B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B7B8BF"/>
                </a:solidFill>
                <a:latin typeface="Aptos"/>
                <a:ea typeface="Aptos"/>
                <a:cs typeface="Aptos"/>
              </a:rPr>
              <a:t>• Puede incluir soporte de transicion y mantenimiento.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A80668-A3F5-4D9F-A0C2-1FFB64BB6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05400"/>
            <a:ext cx="4476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7B8B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B7B8BF"/>
                </a:solidFill>
                <a:latin typeface="Aptos"/>
                <a:ea typeface="Aptos"/>
                <a:cs typeface="Aptos"/>
              </a:rPr>
              <a:t>• Mayor ticket inicial.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829EE5-B06F-4C00-B6FB-970F0D61D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476500"/>
            <a:ext cx="52197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30F"/>
          </a:solidFill>
          <a:ln xmlns:a="http://schemas.openxmlformats.org/drawingml/2006/main" w="13335">
            <a:solidFill>
              <a:srgbClr val="FF6A1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2613C9-3924-423B-ADCB-9423D6B8D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70510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7F7F8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7F7F8"/>
                </a:solidFill>
                <a:latin typeface="Aptos"/>
                <a:ea typeface="Aptos"/>
                <a:cs typeface="Aptos"/>
              </a:rPr>
              <a:t>Uso de tu plataforma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855296-F2BE-495F-AFBB-3F4E706AC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181350"/>
            <a:ext cx="3429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B27D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FB27D"/>
                </a:solidFill>
                <a:latin typeface="Aptos Display"/>
                <a:ea typeface="Aptos Display"/>
                <a:cs typeface="Aptos Display"/>
              </a:rPr>
              <a:t>Setup inicial + mensualidad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A7A588-15E8-4799-9B03-C7665EB99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133850"/>
            <a:ext cx="4476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7B8B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B7B8BF"/>
                </a:solidFill>
                <a:latin typeface="Aptos"/>
                <a:ea typeface="Aptos"/>
                <a:cs typeface="Aptos"/>
              </a:rPr>
              <a:t>• Modelo SaaS o plataforma administrada.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DE43B9-35D0-47F0-AFBA-E52389A45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457700"/>
            <a:ext cx="4476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7B8B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B7B8BF"/>
                </a:solidFill>
                <a:latin typeface="Aptos"/>
                <a:ea typeface="Aptos"/>
                <a:cs typeface="Aptos"/>
              </a:rPr>
              <a:t>• Ideal para no perder el activo base del software.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DB9116-6AE7-4C4E-8951-67578379B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781550"/>
            <a:ext cx="4476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7B8B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B7B8BF"/>
                </a:solidFill>
                <a:latin typeface="Aptos"/>
                <a:ea typeface="Aptos"/>
                <a:cs typeface="Aptos"/>
              </a:rPr>
              <a:t>• Permite cobrar implementacion, soporte y evolucion.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75C2B5-2E67-4731-A209-F317F2D58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5105400"/>
            <a:ext cx="4476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7B8B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B7B8BF"/>
                </a:solidFill>
                <a:latin typeface="Aptos"/>
                <a:ea typeface="Aptos"/>
                <a:cs typeface="Aptos"/>
              </a:rPr>
              <a:t>• Mejor camino si quieres replicarlo con mas gimnasios.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42FD83E-79EC-41EC-A2D9-B45837D0B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24625"/>
            <a:ext cx="476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B8D97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8B8D97"/>
                </a:solidFill>
                <a:latin typeface="Aptos Mono"/>
                <a:ea typeface="Aptos Mono"/>
                <a:cs typeface="Aptos Mono"/>
              </a:rPr>
              <a:t>Dorian Platform  |  Mayo 2026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96C5C22-047D-4116-94C0-A2141C29D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24625"/>
            <a:ext cx="381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8B8D97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8B8D97"/>
                </a:solidFill>
                <a:latin typeface="Aptos Mono"/>
                <a:ea typeface="Aptos Mono"/>
                <a:cs typeface="Aptos Mono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92428664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F80A734-5636-44D7-A97F-0D80AA001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B0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71f9d8c0f94bef"/>
          <a:srcRect xmlns:a="http://schemas.openxmlformats.org/drawingml/2006/main" l="10069" t="0" r="1006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10500" y="0"/>
            <a:ext cx="43815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75D863-1E18-4E1D-A985-9936D31FD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4953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090B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10-marker">
            <a:extLst xmlns:a="http://schemas.openxmlformats.org/drawingml/2006/main">
              <a:ext uri="{FF2B5EF4-FFF2-40B4-BE49-F238E27FC236}">
                <a16:creationId xmlns:a16="http://schemas.microsoft.com/office/drawing/2014/main" id="{639BDDDC-141F-4D01-9603-AC44AAF83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228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10-label">
            <a:extLst xmlns:a="http://schemas.openxmlformats.org/drawingml/2006/main">
              <a:ext uri="{FF2B5EF4-FFF2-40B4-BE49-F238E27FC236}">
                <a16:creationId xmlns:a16="http://schemas.microsoft.com/office/drawing/2014/main" id="{B546A917-E399-4B24-AB59-3DC6F8F09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6225"/>
            <a:ext cx="304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B27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B27D"/>
                </a:solidFill>
                <a:latin typeface="Aptos"/>
                <a:ea typeface="Aptos"/>
                <a:cs typeface="Aptos"/>
              </a:rPr>
              <a:t>CIERRE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9C488B-870D-4A74-BD5E-750151B96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81050"/>
            <a:ext cx="60960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7F7F8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7F7F8"/>
                </a:solidFill>
                <a:latin typeface="Aptos Display"/>
                <a:ea typeface="Aptos Display"/>
                <a:cs typeface="Aptos Display"/>
              </a:rPr>
              <a:t>El comprador no empieza desde cero: Dorian ya esta listo para presentarse, transferirse y crecer.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66525F-AF49-4CC7-B39E-A08E33A5D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95450"/>
            <a:ext cx="5905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7B8B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B7B8BF"/>
                </a:solidFill>
                <a:latin typeface="Aptos"/>
                <a:ea typeface="Aptos"/>
                <a:cs typeface="Aptos"/>
              </a:rPr>
              <a:t>La siguiente fase natural es centralizar mas contenido administrable para que web y app compartan aun mas valor desde una sola administracion.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7ECF46-6BA4-45B2-AAB3-81EB9C205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43250"/>
            <a:ext cx="61912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61B"/>
          </a:solidFill>
          <a:ln xmlns:a="http://schemas.openxmlformats.org/drawingml/2006/main" w="9525">
            <a:solidFill>
              <a:srgbClr val="2D2F3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67D1E6-FD80-4219-95D0-E475DB295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5280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30F"/>
          </a:solidFill>
          <a:ln xmlns:a="http://schemas.openxmlformats.org/drawingml/2006/main" w="9525">
            <a:solidFill>
              <a:srgbClr val="FF6A1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D5087A-B117-4862-9FB4-38A8EE1C3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09950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B27D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B27D"/>
                </a:solidFill>
                <a:latin typeface="Aptos"/>
                <a:ea typeface="Aptos"/>
                <a:cs typeface="Aptos"/>
              </a:rPr>
              <a:t>SIGUIENTE PASO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17E29F-DAF2-40EC-BA31-85DAC532E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48100"/>
            <a:ext cx="552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F7F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7F7F8"/>
                </a:solidFill>
                <a:latin typeface="Aptos"/>
                <a:ea typeface="Aptos"/>
                <a:cs typeface="Aptos"/>
              </a:rPr>
              <a:t>Presentacion comercial + demo + propuesta economica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2264BF-333F-4748-916F-3ECFF47E3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05300"/>
            <a:ext cx="5429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7B8B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B7B8BF"/>
                </a:solidFill>
                <a:latin typeface="Aptos"/>
                <a:ea typeface="Aptos"/>
                <a:cs typeface="Aptos"/>
              </a:rPr>
              <a:t>Con esta base ya puedes mostrar una solucion completa para gimnasios, abrir negociaciones y cerrar ya sea una venta del proyecto o un modelo de plataforma mensual.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46D9E4-F48F-454B-8FD6-9E400089C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24625"/>
            <a:ext cx="476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B8D97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8B8D97"/>
                </a:solidFill>
                <a:latin typeface="Aptos Mono"/>
                <a:ea typeface="Aptos Mono"/>
                <a:cs typeface="Aptos Mono"/>
              </a:rPr>
              <a:t>Dorian Platform  |  Mayo 2026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287D04-98E0-46EB-A739-23ED057F7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24625"/>
            <a:ext cx="381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8B8D97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8B8D97"/>
                </a:solidFill>
                <a:latin typeface="Aptos Mono"/>
                <a:ea typeface="Aptos Mono"/>
                <a:cs typeface="Aptos Mono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95688317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2026-05-27T22:33:14.2530000Z</dcterms:created>
  <dcterms:modified xsi:type="dcterms:W3CDTF">2026-05-27T22:33:14.2530000Z</dcterms:modified>
</coreProperties>
</file>